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3288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0F8B8D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0F8B8D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5FB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4231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 Platform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Engineering, ETL Pipeline &amp; Interactive Dashboard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41248" y="4160520"/>
            <a:ext cx="2011680" cy="0"/>
          </a:xfrm>
          <a:prstGeom prst="line">
            <a:avLst/>
          </a:prstGeom>
          <a:noFill/>
          <a:ln w="2540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2960" y="44348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|  Mutual Fund / Fintech Domain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Intern / Data Analyst — Bluestock Fintech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platform needed to exist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EAF1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7373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NAV, AUM, and SIP data are fragmented across disconnected AMFI formats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can't easily compare funds on a risk-adjusted basis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retail investors don't know if their fund beats its benchmark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visibility into how demographics shape investor behaviour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reports are static PDFs — slow to produce, slower to act 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50876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1F386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629400" y="17373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29400" y="224028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unified ETL pipeline from raw AMFI data into one database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normalised star-schema database for all MF data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Sharpe, Sortino, Alpha, Beta, and drawdown per scheme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self-service, interactive Power BI dashboard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investor behaviour and benchmark-relative performance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— Mutual Fund Analytics Capstone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datasets, anchored to real AMFI India data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AF1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Fund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5087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AF1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383280" y="160020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383280" y="22860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5087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AF1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217920" y="160020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87K+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217920" y="22860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52560" y="15087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AF1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052560" y="160020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052560" y="22860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History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00400"/>
          <a:ext cx="11064240" cy="27432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fund_master.csv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 list of 40 real mutual fund schemes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nav_history.csv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NAV, Jan 2022 – May 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investor_transactions.csv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32,778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SIP, Lumpsum, and Redemption transactions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benchmark_indices.csv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closing values for 7 benchmark indices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scheme_performance.csv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Returns, Sharpe, Sortino, Alpha, Beta, Max Drawdown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— Mutual Fund Analytics Capstone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→ Transform → Load → Analyse → Visualise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057400" cy="2103120"/>
          </a:xfrm>
          <a:prstGeom prst="roundRect">
            <a:avLst>
              <a:gd name="adj" fmla="val 3556"/>
            </a:avLst>
          </a:prstGeom>
          <a:solidFill>
            <a:srgbClr val="1F386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17830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AMFI NAV files,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mfapi.in REST API,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provided CSVs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615184" y="29718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492A6"/>
                </a:solidFill>
              </a:rPr>
              <a:t>▶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52928" y="2103120"/>
            <a:ext cx="2057400" cy="2103120"/>
          </a:xfrm>
          <a:prstGeom prst="roundRect">
            <a:avLst>
              <a:gd name="adj" fmla="val 3556"/>
            </a:avLst>
          </a:prstGeom>
          <a:solidFill>
            <a:srgbClr val="1F386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852928" y="23317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90088" y="2834640"/>
            <a:ext cx="17830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&amp; Pandas —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validate,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returns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919472" y="29718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492A6"/>
                </a:solidFill>
              </a:rPr>
              <a:t>▶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57216" y="2103120"/>
            <a:ext cx="2057400" cy="2103120"/>
          </a:xfrm>
          <a:prstGeom prst="roundRect">
            <a:avLst>
              <a:gd name="adj" fmla="val 3556"/>
            </a:avLst>
          </a:prstGeom>
          <a:solidFill>
            <a:srgbClr val="0F8B8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157216" y="23317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94376" y="2834640"/>
            <a:ext cx="17830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schema,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tables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223760" y="29718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492A6"/>
                </a:solidFill>
              </a:rPr>
              <a:t>▶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461504" y="2103120"/>
            <a:ext cx="2057400" cy="2103120"/>
          </a:xfrm>
          <a:prstGeom prst="roundRect">
            <a:avLst>
              <a:gd name="adj" fmla="val 3556"/>
            </a:avLst>
          </a:prstGeom>
          <a:solidFill>
            <a:srgbClr val="1F386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461504" y="23317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598664" y="2834640"/>
            <a:ext cx="17830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notebooks —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EDA, risk metrics,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analysis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528048" y="29718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492A6"/>
                </a:solidFill>
              </a:rPr>
              <a:t>▶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765792" y="2103120"/>
            <a:ext cx="2057400" cy="2103120"/>
          </a:xfrm>
          <a:prstGeom prst="roundRect">
            <a:avLst>
              <a:gd name="adj" fmla="val 3556"/>
            </a:avLst>
          </a:prstGeom>
          <a:solidFill>
            <a:srgbClr val="1F386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765792" y="23317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902952" y="2834640"/>
            <a:ext cx="17830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—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pages, slicers,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4526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real-world fintech data pipelines used at companies like Zerodha, Groww, and Paytm Money.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120640"/>
          <a:ext cx="11064240" cy="100584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— 2 dimension + 9 fact tables, ~89,000 rows 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foreign keys and date columns indexed for fast dashboard queries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— Mutual Fund Analytics Capstone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Highlights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trends and fund-house AUM growth</a:t>
            </a:r>
            <a:endParaRPr lang="en-US" sz="1500" dirty="0"/>
          </a:p>
        </p:txBody>
      </p:sp>
      <p:pic>
        <p:nvPicPr>
          <p:cNvPr id="4" name="Image 0" descr="/home/claude/pptx/images/chart_01_nav_tren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554480"/>
            <a:ext cx="5577840" cy="2788920"/>
          </a:xfrm>
          <a:prstGeom prst="rect">
            <a:avLst/>
          </a:prstGeom>
        </p:spPr>
      </p:pic>
      <p:pic>
        <p:nvPicPr>
          <p:cNvPr id="5" name="Image 1" descr="/home/claude/pptx/images/chart_02_aum_growth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09360" y="1554480"/>
            <a:ext cx="5577840" cy="27889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461772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868680" y="475488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trends across all 40 schemes show broad upward momentum from 2022 to 2026.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growth is concentrated among a handful of large fund houses — SBI Mutual Fund leads on average AUM.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— Mutual Fund Analytics Capstone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Highlights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demographics and sector allocation</a:t>
            </a:r>
            <a:endParaRPr lang="en-US" sz="1500" dirty="0"/>
          </a:p>
        </p:txBody>
      </p:sp>
      <p:pic>
        <p:nvPicPr>
          <p:cNvPr id="4" name="Image 0" descr="/home/claude/pptx/images/chart_05_demographic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554480"/>
            <a:ext cx="6583680" cy="2468880"/>
          </a:xfrm>
          <a:prstGeom prst="rect">
            <a:avLst/>
          </a:prstGeom>
        </p:spPr>
      </p:pic>
      <p:pic>
        <p:nvPicPr>
          <p:cNvPr id="5" name="Image 1" descr="/home/claude/pptx/images/chart_09_sector_allocatio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06640" y="1463040"/>
            <a:ext cx="4206240" cy="42062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4160520"/>
            <a:ext cx="6583680" cy="1874520"/>
          </a:xfrm>
          <a:prstGeom prst="roundRect">
            <a:avLst>
              <a:gd name="adj" fmla="val 2927"/>
            </a:avLst>
          </a:prstGeom>
          <a:solidFill>
            <a:srgbClr val="EAF1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868680" y="4297680"/>
            <a:ext cx="6035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26–35 and 36–45 age groups drive the largest share of SIP volume.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sector exposure is concentrated in Banking and Financial Services, ahead of IT and Pharma.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one-third of transactions originate from B30 (beyond top-30) cities.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— Mutual Fund Analytics Capstone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Performance Metrics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returns computed from NAV history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85800" y="175564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21488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8B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(Rp − Rf) / σ(Rp)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6974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per unit of total risk taken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60020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520440" y="175564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Sortino Ratio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520440" y="21488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8B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(Rp − Rf) / Downside σ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20440" y="26974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Penalises only downside volatility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60020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355080" y="175564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/ Beta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355080" y="21488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8B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OLS vs Nifty 100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26974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return &amp; market sensitivity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52560" y="160020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189720" y="175564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189720" y="21488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8B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min(NAV / Peak − 1)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89720" y="26974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peak-to-trough decline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8862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Risk-free rate used throughout: 6.5% (RBI repo rate proxy), annualised with √252 trading days.</a:t>
            </a:r>
            <a:endParaRPr lang="en-US" sz="1300" dirty="0"/>
          </a:p>
        </p:txBody>
      </p:sp>
      <p:pic>
        <p:nvPicPr>
          <p:cNvPr id="21" name="Image 0" descr="/home/claude/pptx/images/chart_var_cva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45920" y="4343400"/>
            <a:ext cx="8869680" cy="214884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— Mutual Fund Analytics Capstone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Behavioural Analytics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Time-varying risk and sector concentration</a:t>
            </a:r>
            <a:endParaRPr lang="en-US" sz="1500" dirty="0"/>
          </a:p>
        </p:txBody>
      </p:sp>
      <p:pic>
        <p:nvPicPr>
          <p:cNvPr id="4" name="Image 0" descr="/home/claude/pptx/images/rolling_sharpe_char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554480"/>
            <a:ext cx="5943600" cy="2971800"/>
          </a:xfrm>
          <a:prstGeom prst="rect">
            <a:avLst/>
          </a:prstGeom>
        </p:spPr>
      </p:pic>
      <p:pic>
        <p:nvPicPr>
          <p:cNvPr id="5" name="Image 1" descr="/home/claude/pptx/images/sector_hhi_char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75120" y="1554480"/>
            <a:ext cx="4937760" cy="29718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466344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868680" y="48006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90-day Sharpe shows risk-adjusted performance varies meaningfully over time, not just at one snapshot.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concentration (HHI) reveals diversification differences within equity funds beyond category labels alone.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— Mutual Fund Analytics Capstone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Overview &amp; Fund Performance pages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53212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pptx/images/cropped_dashboard_industry_overvie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645920"/>
            <a:ext cx="5257800" cy="274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452628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Overview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5800" y="4864608"/>
            <a:ext cx="5257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AUM by year, AUM by fund house, year/fund-house slicers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355080" y="1508760"/>
            <a:ext cx="553212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6492240" y="452628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Performance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492240" y="4864608"/>
            <a:ext cx="5257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Risk-vs-Return bubble chart, sortable scorecard, category/fund-house slicers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— Mutual Fund Analytics Capstone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391CB25-7944-4ECC-9637-8A45BC0261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6743" y="1645920"/>
            <a:ext cx="5046617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Analytics &amp; SIP / Market Trends pages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53212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pptx/images/cropped_dashboard_investor_analytic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645920"/>
            <a:ext cx="5257800" cy="274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452628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Analytics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5800" y="4864608"/>
            <a:ext cx="5257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City, age group, and transaction-type breakdowns with city-tier slicer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355080" y="1508760"/>
            <a:ext cx="553212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1" descr="/home/claude/pptx/images/cropped_dashboard_sip_market_trend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92240" y="1645920"/>
            <a:ext cx="5257800" cy="2743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92240" y="452628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&amp; Market Trends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492240" y="4864608"/>
            <a:ext cx="5257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Dual-axis SIP vs Nifty 50, category inflow matrix, top-5 categories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— Mutual Fund Analytics Capstone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EAF1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548640" cy="548640"/>
          </a:xfrm>
          <a:prstGeom prst="ellipse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709928"/>
            <a:ext cx="43891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Mutual Fund leads the industry on average AUM across the observed period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EAF1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446520" y="1920240"/>
            <a:ext cx="548640" cy="548640"/>
          </a:xfrm>
          <a:prstGeom prst="ellipse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4652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78040" y="1709928"/>
            <a:ext cx="43891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funds show the strongest and most consistent SIP-category inflows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EAF1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31520" y="3337560"/>
            <a:ext cx="548640" cy="548640"/>
          </a:xfrm>
          <a:prstGeom prst="ellipse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31520" y="3337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3127248"/>
            <a:ext cx="43891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Cap and Mid Cap schemes carry the highest tail risk (VaR/CVaR)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301752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EAF1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446520" y="3337560"/>
            <a:ext cx="548640" cy="548640"/>
          </a:xfrm>
          <a:prstGeom prst="ellipse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46520" y="3337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78040" y="3127248"/>
            <a:ext cx="43891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performance (Sharpe) varies meaningfully over time, not just at a point in time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EAF1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31520" y="4754880"/>
            <a:ext cx="548640" cy="548640"/>
          </a:xfrm>
          <a:prstGeom prst="ellipse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31520" y="4754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63040" y="4544568"/>
            <a:ext cx="43891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exposure in equity funds is concentrated in Banking &amp; Financial Services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443484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EAF1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446520" y="4754880"/>
            <a:ext cx="548640" cy="548640"/>
          </a:xfrm>
          <a:prstGeom prst="ellipse">
            <a:avLst/>
          </a:prstGeom>
          <a:solidFill>
            <a:srgbClr val="0F8B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446520" y="4754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78040" y="4544568"/>
            <a:ext cx="43891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B30 cities contribute roughly one-third of total transaction volume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— Mutual Fund Analytics Capstone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6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0F8B8D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058400" y="4389120"/>
            <a:ext cx="4114800" cy="4114800"/>
          </a:xfrm>
          <a:prstGeom prst="ellipse">
            <a:avLst/>
          </a:prstGeom>
          <a:solidFill>
            <a:srgbClr val="0F8B8D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841248" y="3429000"/>
            <a:ext cx="2011680" cy="0"/>
          </a:xfrm>
          <a:prstGeom prst="line">
            <a:avLst/>
          </a:prstGeom>
          <a:noFill/>
          <a:ln w="2540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3657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— Mutual Fund Analytics Capstone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882</Words>
  <Application>Microsoft Office PowerPoint</Application>
  <PresentationFormat>Widescreen</PresentationFormat>
  <Paragraphs>174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MF Capstone Presentation</dc:title>
  <dc:subject>PptxGenJS Presentation</dc:subject>
  <dc:creator>Bluestock Fintech Intern</dc:creator>
  <cp:lastModifiedBy>PALANIVEL R</cp:lastModifiedBy>
  <cp:revision>2</cp:revision>
  <dcterms:created xsi:type="dcterms:W3CDTF">2026-06-17T08:34:23Z</dcterms:created>
  <dcterms:modified xsi:type="dcterms:W3CDTF">2026-06-18T07:44:50Z</dcterms:modified>
</cp:coreProperties>
</file>